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56" r:id="rId5"/>
    <p:sldId id="257" r:id="rId6"/>
    <p:sldId id="260" r:id="rId7"/>
    <p:sldId id="286" r:id="rId8"/>
    <p:sldId id="258" r:id="rId9"/>
    <p:sldId id="261" r:id="rId10"/>
    <p:sldId id="287" r:id="rId11"/>
    <p:sldId id="266" r:id="rId12"/>
    <p:sldId id="288" r:id="rId13"/>
    <p:sldId id="269" r:id="rId14"/>
    <p:sldId id="28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ject" id="{699BB0B3-D3AD-4831-9ED3-1769A131A0A2}">
          <p14:sldIdLst>
            <p14:sldId id="256"/>
            <p14:sldId id="257"/>
            <p14:sldId id="260"/>
            <p14:sldId id="286"/>
            <p14:sldId id="258"/>
            <p14:sldId id="261"/>
            <p14:sldId id="287"/>
            <p14:sldId id="266"/>
            <p14:sldId id="288"/>
            <p14:sldId id="269"/>
            <p14:sldId id="28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75AC"/>
    <a:srgbClr val="103350"/>
    <a:srgbClr val="0C4360"/>
    <a:srgbClr val="1B6872"/>
    <a:srgbClr val="63B7C6"/>
    <a:srgbClr val="002136"/>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10/9/2026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10/9/2026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5.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1844351" y="1770575"/>
            <a:ext cx="10347649" cy="1567544"/>
          </a:xfrm>
        </p:spPr>
        <p:txBody>
          <a:bodyPr/>
          <a:lstStyle/>
          <a:p>
            <a:r>
              <a:rPr lang="en-IN" dirty="0"/>
              <a:t>STOCK MARKET ANALYSIS</a:t>
            </a:r>
            <a:endParaRPr lang="en-US" dirty="0"/>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3181738" y="3338120"/>
            <a:ext cx="6657205" cy="450109"/>
          </a:xfrm>
          <a:solidFill>
            <a:srgbClr val="00B0F0"/>
          </a:solidFill>
        </p:spPr>
        <p:txBody>
          <a:bodyPr/>
          <a:lstStyle/>
          <a:p>
            <a:pPr algn="ctr"/>
            <a:r>
              <a:rPr lang="en-IN" dirty="0"/>
              <a:t>DATA ANALYTICS PROJECT</a:t>
            </a:r>
            <a:endParaRPr lang="en-US" dirty="0"/>
          </a:p>
        </p:txBody>
      </p:sp>
      <p:sp>
        <p:nvSpPr>
          <p:cNvPr id="8" name="Rectangle 7">
            <a:extLst>
              <a:ext uri="{FF2B5EF4-FFF2-40B4-BE49-F238E27FC236}">
                <a16:creationId xmlns:a16="http://schemas.microsoft.com/office/drawing/2014/main" id="{384DCCC8-AE21-4E09-C2BB-CD12F677F949}"/>
              </a:ext>
            </a:extLst>
          </p:cNvPr>
          <p:cNvSpPr/>
          <p:nvPr/>
        </p:nvSpPr>
        <p:spPr>
          <a:xfrm>
            <a:off x="6923314" y="5029200"/>
            <a:ext cx="4898572" cy="1315616"/>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ln w="12700" cmpd="sng">
                  <a:solidFill>
                    <a:schemeClr val="accent4"/>
                  </a:solidFill>
                  <a:prstDash val="solid"/>
                </a:ln>
                <a:solidFill>
                  <a:schemeClr val="accent3"/>
                </a:solidFill>
              </a:rPr>
              <a:t> PREPARED BY : Rachapalli Rajeswari</a:t>
            </a:r>
          </a:p>
          <a:p>
            <a:r>
              <a:rPr lang="en-IN" sz="1600" b="1" dirty="0">
                <a:ln w="12700" cmpd="sng">
                  <a:solidFill>
                    <a:schemeClr val="accent4"/>
                  </a:solidFill>
                  <a:prstDash val="solid"/>
                </a:ln>
                <a:solidFill>
                  <a:schemeClr val="accent3"/>
                </a:solidFill>
              </a:rPr>
              <a:t> TECHNOLOGIES: PostgreSQL · </a:t>
            </a:r>
            <a:r>
              <a:rPr lang="en-IN" sz="1600" b="1" dirty="0" err="1">
                <a:ln w="12700" cmpd="sng">
                  <a:solidFill>
                    <a:schemeClr val="accent4"/>
                  </a:solidFill>
                  <a:prstDash val="solid"/>
                </a:ln>
                <a:solidFill>
                  <a:schemeClr val="accent3"/>
                </a:solidFill>
              </a:rPr>
              <a:t>Streamlit</a:t>
            </a:r>
            <a:endParaRPr lang="en-IN" sz="1600" b="1" dirty="0">
              <a:ln w="12700" cmpd="sng">
                <a:solidFill>
                  <a:schemeClr val="accent4"/>
                </a:solidFill>
                <a:prstDash val="solid"/>
              </a:ln>
              <a:solidFill>
                <a:schemeClr val="accent3"/>
              </a:solidFill>
            </a:endParaRP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832104" y="3888907"/>
            <a:ext cx="7781544" cy="859055"/>
          </a:xfrm>
        </p:spPr>
        <p:txBody>
          <a:bodyPr>
            <a:normAutofit fontScale="90000"/>
          </a:bodyPr>
          <a:lstStyle/>
          <a:p>
            <a:br>
              <a:rPr lang="en-IN" dirty="0"/>
            </a:br>
            <a:endParaRPr lang="en-IN" dirty="0"/>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idx="1"/>
          </p:nvPr>
        </p:nvSpPr>
        <p:spPr>
          <a:xfrm>
            <a:off x="831849" y="662473"/>
            <a:ext cx="9273203" cy="474319"/>
          </a:xfrm>
        </p:spPr>
        <p:txBody>
          <a:bodyPr>
            <a:normAutofit fontScale="92500" lnSpcReduction="10000"/>
          </a:bodyPr>
          <a:lstStyle/>
          <a:p>
            <a:pPr algn="ctr"/>
            <a:r>
              <a:rPr lang="en-IN" sz="3200" dirty="0">
                <a:solidFill>
                  <a:schemeClr val="accent2">
                    <a:lumMod val="60000"/>
                    <a:lumOff val="40000"/>
                  </a:schemeClr>
                </a:solidFill>
                <a:highlight>
                  <a:srgbClr val="008080"/>
                </a:highlight>
              </a:rPr>
              <a:t>EXECUTIVE SUMMARY</a:t>
            </a:r>
            <a:endParaRPr lang="en-US" sz="3200" dirty="0">
              <a:solidFill>
                <a:schemeClr val="accent2">
                  <a:lumMod val="60000"/>
                  <a:lumOff val="40000"/>
                </a:schemeClr>
              </a:solidFill>
              <a:highlight>
                <a:srgbClr val="008080"/>
              </a:highlight>
            </a:endParaRP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10" name="Rectangle 9">
            <a:extLst>
              <a:ext uri="{FF2B5EF4-FFF2-40B4-BE49-F238E27FC236}">
                <a16:creationId xmlns:a16="http://schemas.microsoft.com/office/drawing/2014/main" id="{3430A824-4106-08E3-071C-13A01848106B}"/>
              </a:ext>
            </a:extLst>
          </p:cNvPr>
          <p:cNvSpPr/>
          <p:nvPr/>
        </p:nvSpPr>
        <p:spPr>
          <a:xfrm>
            <a:off x="443203" y="1352939"/>
            <a:ext cx="8742784" cy="29368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v"/>
            </a:pPr>
            <a:r>
              <a:rPr lang="en-IN" dirty="0"/>
              <a:t>This project focuses on </a:t>
            </a:r>
            <a:r>
              <a:rPr lang="en-IN" dirty="0" err="1"/>
              <a:t>analyzing</a:t>
            </a:r>
            <a:r>
              <a:rPr lang="en-IN" dirty="0"/>
              <a:t> historical stock market data from six companies to understand stock price movements and compare their historical performance.</a:t>
            </a:r>
          </a:p>
          <a:p>
            <a:endParaRPr lang="en-IN" dirty="0"/>
          </a:p>
          <a:p>
            <a:pPr marL="285750" indent="-285750">
              <a:buFont typeface="Wingdings" panose="05000000000000000000" pitchFamily="2" charset="2"/>
              <a:buChar char="v"/>
            </a:pPr>
            <a:r>
              <a:rPr lang="en-IN" dirty="0"/>
              <a:t>The datasets include Bajaj Auto, Eicher Motors, Hero MotoCorp, Infosys, TCS, and TVS Motors. The project uses PostgreSQL for database management and SQL-based analysis, while </a:t>
            </a:r>
            <a:r>
              <a:rPr lang="en-IN" dirty="0" err="1"/>
              <a:t>Streamlit</a:t>
            </a:r>
            <a:r>
              <a:rPr lang="en-IN" dirty="0"/>
              <a:t> is used to develop an interactive dashboard.</a:t>
            </a:r>
          </a:p>
          <a:p>
            <a:endParaRPr lang="en-IN" dirty="0"/>
          </a:p>
          <a:p>
            <a:pPr marL="285750" indent="-285750">
              <a:buFont typeface="Wingdings" panose="05000000000000000000" pitchFamily="2" charset="2"/>
              <a:buChar char="v"/>
            </a:pPr>
            <a:r>
              <a:rPr lang="en-IN" dirty="0"/>
              <a:t>The dashboard presents company summaries, key metrics, and closing price trends, helping users explore historical stock market information in a clear and simple way.</a:t>
            </a:r>
          </a:p>
        </p:txBody>
      </p:sp>
      <p:sp>
        <p:nvSpPr>
          <p:cNvPr id="11" name="Oval 10">
            <a:extLst>
              <a:ext uri="{FF2B5EF4-FFF2-40B4-BE49-F238E27FC236}">
                <a16:creationId xmlns:a16="http://schemas.microsoft.com/office/drawing/2014/main" id="{CE4DD149-75CC-0616-35E0-7215A433EE0C}"/>
              </a:ext>
            </a:extLst>
          </p:cNvPr>
          <p:cNvSpPr/>
          <p:nvPr/>
        </p:nvSpPr>
        <p:spPr>
          <a:xfrm>
            <a:off x="1194837" y="4443757"/>
            <a:ext cx="2612052" cy="1331891"/>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b="1" dirty="0"/>
              <a:t>6</a:t>
            </a:r>
          </a:p>
          <a:p>
            <a:pPr algn="ctr"/>
            <a:r>
              <a:rPr lang="en-IN" dirty="0"/>
              <a:t>Companies </a:t>
            </a:r>
            <a:r>
              <a:rPr lang="en-IN" dirty="0" err="1"/>
              <a:t>Analyzed</a:t>
            </a:r>
            <a:endParaRPr lang="en-IN" dirty="0"/>
          </a:p>
        </p:txBody>
      </p:sp>
      <p:sp>
        <p:nvSpPr>
          <p:cNvPr id="12" name="Rectangle: Rounded Corners 11">
            <a:extLst>
              <a:ext uri="{FF2B5EF4-FFF2-40B4-BE49-F238E27FC236}">
                <a16:creationId xmlns:a16="http://schemas.microsoft.com/office/drawing/2014/main" id="{6B75813E-6AE5-E737-93D4-8487DC7D5F48}"/>
              </a:ext>
            </a:extLst>
          </p:cNvPr>
          <p:cNvSpPr/>
          <p:nvPr/>
        </p:nvSpPr>
        <p:spPr>
          <a:xfrm>
            <a:off x="934486" y="5967801"/>
            <a:ext cx="6707286" cy="455451"/>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en-IN" dirty="0">
                <a:solidFill>
                  <a:schemeClr val="tx1">
                    <a:lumMod val="85000"/>
                    <a:lumOff val="15000"/>
                  </a:schemeClr>
                </a:solidFill>
              </a:rPr>
              <a:t>Tools: PostgreSQL and </a:t>
            </a:r>
            <a:r>
              <a:rPr lang="en-IN" dirty="0" err="1">
                <a:solidFill>
                  <a:schemeClr val="tx1">
                    <a:lumMod val="85000"/>
                    <a:lumOff val="15000"/>
                  </a:schemeClr>
                </a:solidFill>
              </a:rPr>
              <a:t>Streamlit</a:t>
            </a:r>
            <a:r>
              <a:rPr lang="en-IN" dirty="0">
                <a:solidFill>
                  <a:schemeClr val="tx1">
                    <a:lumMod val="85000"/>
                    <a:lumOff val="15000"/>
                  </a:schemeClr>
                </a:solidFill>
              </a:rPr>
              <a:t> | Data Source: CSV files</a:t>
            </a:r>
          </a:p>
        </p:txBody>
      </p:sp>
      <p:sp>
        <p:nvSpPr>
          <p:cNvPr id="13" name="Oval 12">
            <a:extLst>
              <a:ext uri="{FF2B5EF4-FFF2-40B4-BE49-F238E27FC236}">
                <a16:creationId xmlns:a16="http://schemas.microsoft.com/office/drawing/2014/main" id="{0BCAB27F-25E5-79B3-620C-D49B97A3755B}"/>
              </a:ext>
            </a:extLst>
          </p:cNvPr>
          <p:cNvSpPr/>
          <p:nvPr/>
        </p:nvSpPr>
        <p:spPr>
          <a:xfrm>
            <a:off x="4722876" y="4373779"/>
            <a:ext cx="2425960" cy="1401869"/>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r>
              <a:rPr lang="en-IN" b="1" dirty="0"/>
              <a:t>      5,334</a:t>
            </a:r>
          </a:p>
          <a:p>
            <a:r>
              <a:rPr lang="en-IN" dirty="0"/>
              <a:t>Total Records</a:t>
            </a:r>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1940115" y="211883"/>
            <a:ext cx="7003860" cy="709126"/>
          </a:xfrm>
        </p:spPr>
        <p:txBody>
          <a:bodyPr>
            <a:normAutofit fontScale="90000"/>
          </a:bodyPr>
          <a:lstStyle/>
          <a:p>
            <a:r>
              <a:rPr lang="en-IN" dirty="0">
                <a:highlight>
                  <a:srgbClr val="0C75AC"/>
                </a:highlight>
              </a:rPr>
              <a:t>PROJECT OBJECTIVES</a:t>
            </a:r>
            <a:endParaRPr lang="en-US" dirty="0">
              <a:highlight>
                <a:srgbClr val="0C75AC"/>
              </a:highlight>
            </a:endParaRP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3" name="Rectangle: Rounded Corners 2">
            <a:extLst>
              <a:ext uri="{FF2B5EF4-FFF2-40B4-BE49-F238E27FC236}">
                <a16:creationId xmlns:a16="http://schemas.microsoft.com/office/drawing/2014/main" id="{FA81A63B-4B24-CA1D-1FE5-D56EF98F2210}"/>
              </a:ext>
            </a:extLst>
          </p:cNvPr>
          <p:cNvSpPr/>
          <p:nvPr/>
        </p:nvSpPr>
        <p:spPr>
          <a:xfrm>
            <a:off x="409575" y="1268448"/>
            <a:ext cx="11096625" cy="52811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Clr>
                <a:schemeClr val="accent2"/>
              </a:buClr>
            </a:pPr>
            <a:r>
              <a:rPr lang="en-IN" dirty="0">
                <a:solidFill>
                  <a:schemeClr val="bg1"/>
                </a:solidFill>
              </a:rPr>
              <a:t> The main objective of this project is to </a:t>
            </a:r>
            <a:r>
              <a:rPr lang="en-IN" dirty="0" err="1">
                <a:solidFill>
                  <a:schemeClr val="bg1"/>
                </a:solidFill>
              </a:rPr>
              <a:t>analyze</a:t>
            </a:r>
            <a:r>
              <a:rPr lang="en-IN" dirty="0">
                <a:solidFill>
                  <a:schemeClr val="bg1"/>
                </a:solidFill>
              </a:rPr>
              <a:t> historical stock market data and present useful   </a:t>
            </a:r>
          </a:p>
          <a:p>
            <a:pPr>
              <a:buClr>
                <a:schemeClr val="accent2"/>
              </a:buClr>
            </a:pPr>
            <a:r>
              <a:rPr lang="en-IN" dirty="0">
                <a:solidFill>
                  <a:schemeClr val="bg1"/>
                </a:solidFill>
              </a:rPr>
              <a:t> insights through an interactive dashboard.</a:t>
            </a:r>
          </a:p>
          <a:p>
            <a:pPr>
              <a:buClr>
                <a:schemeClr val="accent2"/>
              </a:buClr>
            </a:pPr>
            <a:endParaRPr lang="en-IN" dirty="0">
              <a:solidFill>
                <a:schemeClr val="bg1"/>
              </a:solidFill>
            </a:endParaRPr>
          </a:p>
          <a:p>
            <a:pPr marL="285750" indent="-285750">
              <a:buClr>
                <a:schemeClr val="accent2"/>
              </a:buClr>
              <a:buFont typeface="Wingdings" panose="05000000000000000000" pitchFamily="2" charset="2"/>
              <a:buChar char="Ø"/>
            </a:pPr>
            <a:r>
              <a:rPr lang="en-IN" dirty="0" err="1">
                <a:solidFill>
                  <a:schemeClr val="bg1"/>
                </a:solidFill>
              </a:rPr>
              <a:t>Analyze</a:t>
            </a:r>
            <a:r>
              <a:rPr lang="en-IN" dirty="0">
                <a:solidFill>
                  <a:schemeClr val="bg1"/>
                </a:solidFill>
              </a:rPr>
              <a:t> Stock Price Trends</a:t>
            </a:r>
          </a:p>
          <a:p>
            <a:r>
              <a:rPr lang="en-IN" dirty="0">
                <a:solidFill>
                  <a:schemeClr val="bg1"/>
                </a:solidFill>
              </a:rPr>
              <a:t>    Examine changes in stock closing prices over time.</a:t>
            </a:r>
          </a:p>
          <a:p>
            <a:endParaRPr lang="en-IN" dirty="0">
              <a:solidFill>
                <a:schemeClr val="bg1"/>
              </a:solidFill>
            </a:endParaRPr>
          </a:p>
          <a:p>
            <a:pPr marL="285750" indent="-285750">
              <a:buClr>
                <a:schemeClr val="accent2"/>
              </a:buClr>
              <a:buFont typeface="Wingdings" panose="05000000000000000000" pitchFamily="2" charset="2"/>
              <a:buChar char="Ø"/>
            </a:pPr>
            <a:r>
              <a:rPr lang="en-IN" dirty="0">
                <a:solidFill>
                  <a:schemeClr val="bg1"/>
                </a:solidFill>
              </a:rPr>
              <a:t>Compare Companies</a:t>
            </a:r>
          </a:p>
          <a:p>
            <a:r>
              <a:rPr lang="en-IN" dirty="0">
                <a:solidFill>
                  <a:schemeClr val="bg1"/>
                </a:solidFill>
              </a:rPr>
              <a:t>    Compare historical stock market data across six selected  companies.</a:t>
            </a:r>
          </a:p>
          <a:p>
            <a:endParaRPr lang="en-IN" dirty="0">
              <a:solidFill>
                <a:schemeClr val="bg1"/>
              </a:solidFill>
            </a:endParaRPr>
          </a:p>
          <a:p>
            <a:pPr marL="285750" indent="-285750">
              <a:buClr>
                <a:schemeClr val="accent2"/>
              </a:buClr>
              <a:buFont typeface="Wingdings" panose="05000000000000000000" pitchFamily="2" charset="2"/>
              <a:buChar char="Ø"/>
            </a:pPr>
            <a:r>
              <a:rPr lang="en-IN" dirty="0" err="1">
                <a:solidFill>
                  <a:schemeClr val="bg1"/>
                </a:solidFill>
              </a:rPr>
              <a:t>Analyze</a:t>
            </a:r>
            <a:r>
              <a:rPr lang="en-IN" dirty="0">
                <a:solidFill>
                  <a:schemeClr val="bg1"/>
                </a:solidFill>
              </a:rPr>
              <a:t> Data Using SQL</a:t>
            </a:r>
          </a:p>
          <a:p>
            <a:r>
              <a:rPr lang="en-IN" dirty="0">
                <a:solidFill>
                  <a:schemeClr val="bg1"/>
                </a:solidFill>
              </a:rPr>
              <a:t>    Use PostgreSQL queries to filter, summarize, and </a:t>
            </a:r>
            <a:r>
              <a:rPr lang="en-IN" dirty="0" err="1">
                <a:solidFill>
                  <a:schemeClr val="bg1"/>
                </a:solidFill>
              </a:rPr>
              <a:t>analyze</a:t>
            </a:r>
            <a:r>
              <a:rPr lang="en-IN" dirty="0">
                <a:solidFill>
                  <a:schemeClr val="bg1"/>
                </a:solidFill>
              </a:rPr>
              <a:t> stock market records.</a:t>
            </a:r>
          </a:p>
          <a:p>
            <a:endParaRPr lang="en-IN" dirty="0">
              <a:solidFill>
                <a:schemeClr val="bg1"/>
              </a:solidFill>
            </a:endParaRPr>
          </a:p>
          <a:p>
            <a:pPr marL="285750" indent="-285750">
              <a:buClr>
                <a:schemeClr val="accent2"/>
              </a:buClr>
              <a:buFont typeface="Wingdings" panose="05000000000000000000" pitchFamily="2" charset="2"/>
              <a:buChar char="Ø"/>
            </a:pPr>
            <a:r>
              <a:rPr lang="en-IN" dirty="0">
                <a:solidFill>
                  <a:schemeClr val="bg1"/>
                </a:solidFill>
              </a:rPr>
              <a:t>Develop an Interactive Dashboard</a:t>
            </a:r>
          </a:p>
          <a:p>
            <a:r>
              <a:rPr lang="en-IN" dirty="0">
                <a:solidFill>
                  <a:schemeClr val="bg1"/>
                </a:solidFill>
              </a:rPr>
              <a:t>   Use </a:t>
            </a:r>
            <a:r>
              <a:rPr lang="en-IN" dirty="0" err="1">
                <a:solidFill>
                  <a:schemeClr val="bg1"/>
                </a:solidFill>
              </a:rPr>
              <a:t>Streamlit</a:t>
            </a:r>
            <a:r>
              <a:rPr lang="en-IN" dirty="0">
                <a:solidFill>
                  <a:schemeClr val="bg1"/>
                </a:solidFill>
              </a:rPr>
              <a:t> to display key metrics, company summaries, and closing  price trends.</a:t>
            </a:r>
          </a:p>
          <a:p>
            <a:endParaRPr lang="en-IN" dirty="0">
              <a:solidFill>
                <a:schemeClr val="bg1"/>
              </a:solidFill>
            </a:endParaRPr>
          </a:p>
          <a:p>
            <a:pPr marL="285750" indent="-285750">
              <a:buClr>
                <a:schemeClr val="accent2"/>
              </a:buClr>
              <a:buFont typeface="Wingdings" panose="05000000000000000000" pitchFamily="2" charset="2"/>
              <a:buChar char="Ø"/>
            </a:pPr>
            <a:r>
              <a:rPr lang="en-IN" dirty="0">
                <a:solidFill>
                  <a:schemeClr val="bg1"/>
                </a:solidFill>
              </a:rPr>
              <a:t>Generate Useful Insights</a:t>
            </a:r>
          </a:p>
          <a:p>
            <a:r>
              <a:rPr lang="en-IN" dirty="0">
                <a:solidFill>
                  <a:schemeClr val="bg1"/>
                </a:solidFill>
              </a:rPr>
              <a:t>   Present historical stock information clearly to support better understanding of company performance.</a:t>
            </a:r>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CDB18C8-68F6-C878-4049-D9D17DB2994A}"/>
              </a:ext>
            </a:extLst>
          </p:cNvPr>
          <p:cNvSpPr>
            <a:spLocks noGrp="1"/>
          </p:cNvSpPr>
          <p:nvPr>
            <p:ph type="title"/>
          </p:nvPr>
        </p:nvSpPr>
        <p:spPr>
          <a:xfrm>
            <a:off x="444500" y="177800"/>
            <a:ext cx="11214100" cy="435178"/>
          </a:xfrm>
        </p:spPr>
        <p:txBody>
          <a:bodyPr/>
          <a:lstStyle/>
          <a:p>
            <a:pPr algn="ctr"/>
            <a:r>
              <a:rPr lang="en-IN" dirty="0"/>
              <a:t>DATASET OVERVIEW</a:t>
            </a:r>
          </a:p>
        </p:txBody>
      </p:sp>
      <p:sp>
        <p:nvSpPr>
          <p:cNvPr id="4" name="Slide Number Placeholder 3">
            <a:extLst>
              <a:ext uri="{FF2B5EF4-FFF2-40B4-BE49-F238E27FC236}">
                <a16:creationId xmlns:a16="http://schemas.microsoft.com/office/drawing/2014/main" id="{3DC159A3-C131-036D-9E9B-EE1717E992A6}"/>
              </a:ext>
            </a:extLst>
          </p:cNvPr>
          <p:cNvSpPr>
            <a:spLocks noGrp="1"/>
          </p:cNvSpPr>
          <p:nvPr>
            <p:ph type="sldNum" sz="quarter" idx="12"/>
          </p:nvPr>
        </p:nvSpPr>
        <p:spPr/>
        <p:txBody>
          <a:bodyPr/>
          <a:lstStyle/>
          <a:p>
            <a:fld id="{C263D6C4-4840-40CC-AC84-17E24B3B7BDE}" type="slidenum">
              <a:rPr lang="en-US" noProof="0" smtClean="0"/>
              <a:pPr/>
              <a:t>4</a:t>
            </a:fld>
            <a:endParaRPr lang="en-US" noProof="0" dirty="0"/>
          </a:p>
        </p:txBody>
      </p:sp>
      <p:sp>
        <p:nvSpPr>
          <p:cNvPr id="6" name="Text Placeholder 5">
            <a:extLst>
              <a:ext uri="{FF2B5EF4-FFF2-40B4-BE49-F238E27FC236}">
                <a16:creationId xmlns:a16="http://schemas.microsoft.com/office/drawing/2014/main" id="{B42556B3-680F-4615-C0E9-67E18AD6B003}"/>
              </a:ext>
            </a:extLst>
          </p:cNvPr>
          <p:cNvSpPr>
            <a:spLocks noGrp="1"/>
          </p:cNvSpPr>
          <p:nvPr>
            <p:ph type="body" idx="1"/>
          </p:nvPr>
        </p:nvSpPr>
        <p:spPr>
          <a:xfrm>
            <a:off x="444500" y="1681163"/>
            <a:ext cx="3891645" cy="823912"/>
          </a:xfrm>
        </p:spPr>
        <p:txBody>
          <a:bodyPr/>
          <a:lstStyle/>
          <a:p>
            <a:r>
              <a:rPr lang="en-IN" dirty="0">
                <a:highlight>
                  <a:srgbClr val="0C75AC"/>
                </a:highlight>
              </a:rPr>
              <a:t>Companies Included</a:t>
            </a:r>
          </a:p>
        </p:txBody>
      </p:sp>
      <p:sp>
        <p:nvSpPr>
          <p:cNvPr id="13" name="Rectangle 12">
            <a:extLst>
              <a:ext uri="{FF2B5EF4-FFF2-40B4-BE49-F238E27FC236}">
                <a16:creationId xmlns:a16="http://schemas.microsoft.com/office/drawing/2014/main" id="{D7C30117-54E8-8AED-9B64-69B48BE5E747}"/>
              </a:ext>
            </a:extLst>
          </p:cNvPr>
          <p:cNvSpPr/>
          <p:nvPr/>
        </p:nvSpPr>
        <p:spPr>
          <a:xfrm>
            <a:off x="598714" y="743494"/>
            <a:ext cx="11214100" cy="6027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The project uses historical stock market data from six companies to </a:t>
            </a:r>
            <a:r>
              <a:rPr lang="en-IN" dirty="0" err="1"/>
              <a:t>analyze</a:t>
            </a:r>
            <a:r>
              <a:rPr lang="en-IN" dirty="0"/>
              <a:t> stock prices and trading activity.</a:t>
            </a:r>
          </a:p>
        </p:txBody>
      </p:sp>
      <p:graphicFrame>
        <p:nvGraphicFramePr>
          <p:cNvPr id="26" name="Table 25">
            <a:extLst>
              <a:ext uri="{FF2B5EF4-FFF2-40B4-BE49-F238E27FC236}">
                <a16:creationId xmlns:a16="http://schemas.microsoft.com/office/drawing/2014/main" id="{70F1D65E-3C62-0BEE-5A94-AB4F856671B7}"/>
              </a:ext>
            </a:extLst>
          </p:cNvPr>
          <p:cNvGraphicFramePr>
            <a:graphicFrameLocks noGrp="1"/>
          </p:cNvGraphicFramePr>
          <p:nvPr>
            <p:extLst>
              <p:ext uri="{D42A27DB-BD31-4B8C-83A1-F6EECF244321}">
                <p14:modId xmlns:p14="http://schemas.microsoft.com/office/powerpoint/2010/main" val="320749683"/>
              </p:ext>
            </p:extLst>
          </p:nvPr>
        </p:nvGraphicFramePr>
        <p:xfrm>
          <a:off x="598714" y="2544902"/>
          <a:ext cx="10653486" cy="3657600"/>
        </p:xfrm>
        <a:graphic>
          <a:graphicData uri="http://schemas.openxmlformats.org/drawingml/2006/table">
            <a:tbl>
              <a:tblPr>
                <a:tableStyleId>{5C22544A-7EE6-4342-B048-85BDC9FD1C3A}</a:tableStyleId>
              </a:tblPr>
              <a:tblGrid>
                <a:gridCol w="5326743">
                  <a:extLst>
                    <a:ext uri="{9D8B030D-6E8A-4147-A177-3AD203B41FA5}">
                      <a16:colId xmlns:a16="http://schemas.microsoft.com/office/drawing/2014/main" val="3665425504"/>
                    </a:ext>
                  </a:extLst>
                </a:gridCol>
                <a:gridCol w="5326743">
                  <a:extLst>
                    <a:ext uri="{9D8B030D-6E8A-4147-A177-3AD203B41FA5}">
                      <a16:colId xmlns:a16="http://schemas.microsoft.com/office/drawing/2014/main" val="286453616"/>
                    </a:ext>
                  </a:extLst>
                </a:gridCol>
              </a:tblGrid>
              <a:tr h="330851">
                <a:tc>
                  <a:txBody>
                    <a:bodyPr/>
                    <a:lstStyle/>
                    <a:p>
                      <a:pPr>
                        <a:buNone/>
                      </a:pPr>
                      <a:r>
                        <a:rPr lang="en-IN"/>
                        <a:t>Column</a:t>
                      </a:r>
                    </a:p>
                  </a:txBody>
                  <a:tcPr anchor="ctr"/>
                </a:tc>
                <a:tc>
                  <a:txBody>
                    <a:bodyPr/>
                    <a:lstStyle/>
                    <a:p>
                      <a:pPr>
                        <a:buNone/>
                      </a:pPr>
                      <a:r>
                        <a:rPr lang="en-IN" dirty="0"/>
                        <a:t>Description</a:t>
                      </a:r>
                    </a:p>
                  </a:txBody>
                  <a:tcPr anchor="ctr"/>
                </a:tc>
                <a:extLst>
                  <a:ext uri="{0D108BD9-81ED-4DB2-BD59-A6C34878D82A}">
                    <a16:rowId xmlns:a16="http://schemas.microsoft.com/office/drawing/2014/main" val="996357389"/>
                  </a:ext>
                </a:extLst>
              </a:tr>
              <a:tr h="330851">
                <a:tc>
                  <a:txBody>
                    <a:bodyPr/>
                    <a:lstStyle/>
                    <a:p>
                      <a:pPr>
                        <a:buNone/>
                      </a:pPr>
                      <a:r>
                        <a:rPr lang="en-IN" dirty="0"/>
                        <a:t>Date</a:t>
                      </a:r>
                    </a:p>
                  </a:txBody>
                  <a:tcPr anchor="ctr"/>
                </a:tc>
                <a:tc>
                  <a:txBody>
                    <a:bodyPr/>
                    <a:lstStyle/>
                    <a:p>
                      <a:pPr>
                        <a:buNone/>
                      </a:pPr>
                      <a:r>
                        <a:rPr lang="en-IN" dirty="0"/>
                        <a:t>Trading date</a:t>
                      </a:r>
                    </a:p>
                  </a:txBody>
                  <a:tcPr anchor="ctr"/>
                </a:tc>
                <a:extLst>
                  <a:ext uri="{0D108BD9-81ED-4DB2-BD59-A6C34878D82A}">
                    <a16:rowId xmlns:a16="http://schemas.microsoft.com/office/drawing/2014/main" val="3547159421"/>
                  </a:ext>
                </a:extLst>
              </a:tr>
              <a:tr h="330851">
                <a:tc>
                  <a:txBody>
                    <a:bodyPr/>
                    <a:lstStyle/>
                    <a:p>
                      <a:pPr>
                        <a:buNone/>
                      </a:pPr>
                      <a:r>
                        <a:rPr lang="en-IN" dirty="0"/>
                        <a:t>Open Price</a:t>
                      </a:r>
                    </a:p>
                  </a:txBody>
                  <a:tcPr anchor="ctr"/>
                </a:tc>
                <a:tc>
                  <a:txBody>
                    <a:bodyPr/>
                    <a:lstStyle/>
                    <a:p>
                      <a:pPr>
                        <a:buNone/>
                      </a:pPr>
                      <a:r>
                        <a:rPr lang="en-IN"/>
                        <a:t>Opening stock price</a:t>
                      </a:r>
                    </a:p>
                  </a:txBody>
                  <a:tcPr anchor="ctr"/>
                </a:tc>
                <a:extLst>
                  <a:ext uri="{0D108BD9-81ED-4DB2-BD59-A6C34878D82A}">
                    <a16:rowId xmlns:a16="http://schemas.microsoft.com/office/drawing/2014/main" val="2016166963"/>
                  </a:ext>
                </a:extLst>
              </a:tr>
              <a:tr h="330851">
                <a:tc>
                  <a:txBody>
                    <a:bodyPr/>
                    <a:lstStyle/>
                    <a:p>
                      <a:pPr>
                        <a:buNone/>
                      </a:pPr>
                      <a:r>
                        <a:rPr lang="en-IN" dirty="0"/>
                        <a:t>High Price</a:t>
                      </a:r>
                    </a:p>
                  </a:txBody>
                  <a:tcPr anchor="ctr"/>
                </a:tc>
                <a:tc>
                  <a:txBody>
                    <a:bodyPr/>
                    <a:lstStyle/>
                    <a:p>
                      <a:pPr>
                        <a:buNone/>
                      </a:pPr>
                      <a:r>
                        <a:rPr lang="en-IN"/>
                        <a:t>Highest price recorded</a:t>
                      </a:r>
                    </a:p>
                  </a:txBody>
                  <a:tcPr anchor="ctr"/>
                </a:tc>
                <a:extLst>
                  <a:ext uri="{0D108BD9-81ED-4DB2-BD59-A6C34878D82A}">
                    <a16:rowId xmlns:a16="http://schemas.microsoft.com/office/drawing/2014/main" val="606067166"/>
                  </a:ext>
                </a:extLst>
              </a:tr>
              <a:tr h="330851">
                <a:tc>
                  <a:txBody>
                    <a:bodyPr/>
                    <a:lstStyle/>
                    <a:p>
                      <a:pPr>
                        <a:buNone/>
                      </a:pPr>
                      <a:r>
                        <a:rPr lang="en-IN"/>
                        <a:t>Low Price</a:t>
                      </a:r>
                    </a:p>
                  </a:txBody>
                  <a:tcPr anchor="ctr"/>
                </a:tc>
                <a:tc>
                  <a:txBody>
                    <a:bodyPr/>
                    <a:lstStyle/>
                    <a:p>
                      <a:pPr>
                        <a:buNone/>
                      </a:pPr>
                      <a:r>
                        <a:rPr lang="en-IN"/>
                        <a:t>Lowest price recorded</a:t>
                      </a:r>
                    </a:p>
                  </a:txBody>
                  <a:tcPr anchor="ctr"/>
                </a:tc>
                <a:extLst>
                  <a:ext uri="{0D108BD9-81ED-4DB2-BD59-A6C34878D82A}">
                    <a16:rowId xmlns:a16="http://schemas.microsoft.com/office/drawing/2014/main" val="1199499527"/>
                  </a:ext>
                </a:extLst>
              </a:tr>
              <a:tr h="330851">
                <a:tc>
                  <a:txBody>
                    <a:bodyPr/>
                    <a:lstStyle/>
                    <a:p>
                      <a:pPr>
                        <a:buNone/>
                      </a:pPr>
                      <a:r>
                        <a:rPr lang="en-IN"/>
                        <a:t>Close Price</a:t>
                      </a:r>
                    </a:p>
                  </a:txBody>
                  <a:tcPr anchor="ctr"/>
                </a:tc>
                <a:tc>
                  <a:txBody>
                    <a:bodyPr/>
                    <a:lstStyle/>
                    <a:p>
                      <a:pPr>
                        <a:buNone/>
                      </a:pPr>
                      <a:r>
                        <a:rPr lang="en-IN"/>
                        <a:t>Closing stock price</a:t>
                      </a:r>
                    </a:p>
                  </a:txBody>
                  <a:tcPr anchor="ctr"/>
                </a:tc>
                <a:extLst>
                  <a:ext uri="{0D108BD9-81ED-4DB2-BD59-A6C34878D82A}">
                    <a16:rowId xmlns:a16="http://schemas.microsoft.com/office/drawing/2014/main" val="1027152504"/>
                  </a:ext>
                </a:extLst>
              </a:tr>
              <a:tr h="330851">
                <a:tc>
                  <a:txBody>
                    <a:bodyPr/>
                    <a:lstStyle/>
                    <a:p>
                      <a:pPr>
                        <a:buNone/>
                      </a:pPr>
                      <a:r>
                        <a:rPr lang="en-IN" dirty="0"/>
                        <a:t>WAP</a:t>
                      </a:r>
                    </a:p>
                  </a:txBody>
                  <a:tcPr anchor="ctr"/>
                </a:tc>
                <a:tc>
                  <a:txBody>
                    <a:bodyPr/>
                    <a:lstStyle/>
                    <a:p>
                      <a:pPr>
                        <a:buNone/>
                      </a:pPr>
                      <a:r>
                        <a:rPr lang="en-IN"/>
                        <a:t>Weighted Average Price</a:t>
                      </a:r>
                    </a:p>
                  </a:txBody>
                  <a:tcPr anchor="ctr"/>
                </a:tc>
                <a:extLst>
                  <a:ext uri="{0D108BD9-81ED-4DB2-BD59-A6C34878D82A}">
                    <a16:rowId xmlns:a16="http://schemas.microsoft.com/office/drawing/2014/main" val="3359717348"/>
                  </a:ext>
                </a:extLst>
              </a:tr>
              <a:tr h="330851">
                <a:tc>
                  <a:txBody>
                    <a:bodyPr/>
                    <a:lstStyle/>
                    <a:p>
                      <a:pPr>
                        <a:buNone/>
                      </a:pPr>
                      <a:r>
                        <a:rPr lang="en-IN" dirty="0"/>
                        <a:t>No. of Shares</a:t>
                      </a:r>
                    </a:p>
                  </a:txBody>
                  <a:tcPr anchor="ctr"/>
                </a:tc>
                <a:tc>
                  <a:txBody>
                    <a:bodyPr/>
                    <a:lstStyle/>
                    <a:p>
                      <a:pPr>
                        <a:buNone/>
                      </a:pPr>
                      <a:r>
                        <a:rPr lang="en-IN" dirty="0"/>
                        <a:t>Number of shares traded</a:t>
                      </a:r>
                    </a:p>
                  </a:txBody>
                  <a:tcPr anchor="ctr"/>
                </a:tc>
                <a:extLst>
                  <a:ext uri="{0D108BD9-81ED-4DB2-BD59-A6C34878D82A}">
                    <a16:rowId xmlns:a16="http://schemas.microsoft.com/office/drawing/2014/main" val="1013864012"/>
                  </a:ext>
                </a:extLst>
              </a:tr>
              <a:tr h="330851">
                <a:tc>
                  <a:txBody>
                    <a:bodyPr/>
                    <a:lstStyle/>
                    <a:p>
                      <a:pPr>
                        <a:buNone/>
                      </a:pPr>
                      <a:r>
                        <a:rPr lang="en-IN" dirty="0"/>
                        <a:t>No. of Trades</a:t>
                      </a:r>
                    </a:p>
                  </a:txBody>
                  <a:tcPr anchor="ctr"/>
                </a:tc>
                <a:tc>
                  <a:txBody>
                    <a:bodyPr/>
                    <a:lstStyle/>
                    <a:p>
                      <a:pPr>
                        <a:buNone/>
                      </a:pPr>
                      <a:r>
                        <a:rPr lang="en-IN"/>
                        <a:t>Number of trades recorded</a:t>
                      </a:r>
                    </a:p>
                  </a:txBody>
                  <a:tcPr anchor="ctr"/>
                </a:tc>
                <a:extLst>
                  <a:ext uri="{0D108BD9-81ED-4DB2-BD59-A6C34878D82A}">
                    <a16:rowId xmlns:a16="http://schemas.microsoft.com/office/drawing/2014/main" val="2226937272"/>
                  </a:ext>
                </a:extLst>
              </a:tr>
              <a:tr h="330851">
                <a:tc>
                  <a:txBody>
                    <a:bodyPr/>
                    <a:lstStyle/>
                    <a:p>
                      <a:pPr>
                        <a:buNone/>
                      </a:pPr>
                      <a:r>
                        <a:rPr lang="en-IN" dirty="0"/>
                        <a:t>Total Turnover</a:t>
                      </a:r>
                    </a:p>
                  </a:txBody>
                  <a:tcPr anchor="ctr"/>
                </a:tc>
                <a:tc>
                  <a:txBody>
                    <a:bodyPr/>
                    <a:lstStyle/>
                    <a:p>
                      <a:pPr>
                        <a:buNone/>
                      </a:pPr>
                      <a:r>
                        <a:rPr lang="en-IN" dirty="0"/>
                        <a:t>Total trading value</a:t>
                      </a:r>
                    </a:p>
                  </a:txBody>
                  <a:tcPr anchor="ctr"/>
                </a:tc>
                <a:extLst>
                  <a:ext uri="{0D108BD9-81ED-4DB2-BD59-A6C34878D82A}">
                    <a16:rowId xmlns:a16="http://schemas.microsoft.com/office/drawing/2014/main" val="3101042066"/>
                  </a:ext>
                </a:extLst>
              </a:tr>
            </a:tbl>
          </a:graphicData>
        </a:graphic>
      </p:graphicFrame>
      <p:sp>
        <p:nvSpPr>
          <p:cNvPr id="28" name="TextBox 27">
            <a:extLst>
              <a:ext uri="{FF2B5EF4-FFF2-40B4-BE49-F238E27FC236}">
                <a16:creationId xmlns:a16="http://schemas.microsoft.com/office/drawing/2014/main" id="{6477E37F-6D8D-3435-7FEC-A414F8E09CA1}"/>
              </a:ext>
            </a:extLst>
          </p:cNvPr>
          <p:cNvSpPr txBox="1"/>
          <p:nvPr/>
        </p:nvSpPr>
        <p:spPr>
          <a:xfrm>
            <a:off x="139959" y="6218535"/>
            <a:ext cx="11877870" cy="646331"/>
          </a:xfrm>
          <a:prstGeom prst="rect">
            <a:avLst/>
          </a:prstGeom>
          <a:noFill/>
        </p:spPr>
        <p:txBody>
          <a:bodyPr wrap="square">
            <a:spAutoFit/>
          </a:bodyPr>
          <a:lstStyle/>
          <a:p>
            <a:pPr>
              <a:buNone/>
            </a:pPr>
            <a:r>
              <a:rPr lang="en-IN" dirty="0">
                <a:solidFill>
                  <a:schemeClr val="bg1"/>
                </a:solidFill>
              </a:rPr>
              <a:t>Key Dataset Columns</a:t>
            </a:r>
          </a:p>
          <a:p>
            <a:pPr>
              <a:buNone/>
            </a:pPr>
            <a:r>
              <a:rPr lang="en-IN" dirty="0">
                <a:solidFill>
                  <a:schemeClr val="bg1"/>
                </a:solidFill>
              </a:rPr>
              <a:t>Data Source: Six company CSV files. The data is </a:t>
            </a:r>
            <a:r>
              <a:rPr lang="en-IN" dirty="0" err="1">
                <a:solidFill>
                  <a:schemeClr val="bg1"/>
                </a:solidFill>
              </a:rPr>
              <a:t>analyzed</a:t>
            </a:r>
            <a:r>
              <a:rPr lang="en-IN" dirty="0">
                <a:solidFill>
                  <a:schemeClr val="bg1"/>
                </a:solidFill>
              </a:rPr>
              <a:t> using PostgreSQL and presented through </a:t>
            </a:r>
            <a:r>
              <a:rPr lang="en-IN" dirty="0" err="1">
                <a:solidFill>
                  <a:schemeClr val="bg1"/>
                </a:solidFill>
              </a:rPr>
              <a:t>Streamlit</a:t>
            </a:r>
            <a:r>
              <a:rPr lang="en-IN" dirty="0">
                <a:solidFill>
                  <a:schemeClr val="bg1"/>
                </a:solidFill>
              </a:rPr>
              <a:t>.</a:t>
            </a:r>
          </a:p>
        </p:txBody>
      </p:sp>
      <p:sp>
        <p:nvSpPr>
          <p:cNvPr id="30" name="Text Placeholder 29">
            <a:extLst>
              <a:ext uri="{FF2B5EF4-FFF2-40B4-BE49-F238E27FC236}">
                <a16:creationId xmlns:a16="http://schemas.microsoft.com/office/drawing/2014/main" id="{6D62B319-A4F7-4FC6-DEE3-73293BBBF595}"/>
              </a:ext>
            </a:extLst>
          </p:cNvPr>
          <p:cNvSpPr>
            <a:spLocks noGrp="1"/>
          </p:cNvSpPr>
          <p:nvPr>
            <p:ph type="body" sz="quarter" idx="3"/>
          </p:nvPr>
        </p:nvSpPr>
        <p:spPr>
          <a:xfrm>
            <a:off x="3881536" y="1476717"/>
            <a:ext cx="5159828" cy="937669"/>
          </a:xfrm>
        </p:spPr>
        <p:txBody>
          <a:bodyPr>
            <a:noAutofit/>
          </a:bodyPr>
          <a:lstStyle/>
          <a:p>
            <a:pPr marL="342900" indent="-342900" algn="l">
              <a:buFont typeface="Wingdings" panose="05000000000000000000" pitchFamily="2" charset="2"/>
              <a:buChar char="q"/>
            </a:pPr>
            <a:r>
              <a:rPr lang="en-IN" sz="1600" dirty="0"/>
              <a:t>Bajaj Auto                            Infosys</a:t>
            </a:r>
          </a:p>
          <a:p>
            <a:pPr marL="342900" indent="-342900" algn="l">
              <a:buFont typeface="Wingdings" panose="05000000000000000000" pitchFamily="2" charset="2"/>
              <a:buChar char="q"/>
            </a:pPr>
            <a:r>
              <a:rPr lang="en-IN" sz="1600" dirty="0"/>
              <a:t>Eicher Motors                      TCS</a:t>
            </a:r>
          </a:p>
          <a:p>
            <a:pPr marL="342900" indent="-342900" algn="l">
              <a:buFont typeface="Wingdings" panose="05000000000000000000" pitchFamily="2" charset="2"/>
              <a:buChar char="q"/>
            </a:pPr>
            <a:r>
              <a:rPr lang="en-IN" sz="1600" dirty="0"/>
              <a:t>Hero MotoCorp                    TVS Motors</a:t>
            </a:r>
          </a:p>
          <a:p>
            <a:pPr algn="l"/>
            <a:endParaRPr lang="en-IN" sz="1600" dirty="0"/>
          </a:p>
        </p:txBody>
      </p:sp>
    </p:spTree>
    <p:extLst>
      <p:ext uri="{BB962C8B-B14F-4D97-AF65-F5344CB8AC3E}">
        <p14:creationId xmlns:p14="http://schemas.microsoft.com/office/powerpoint/2010/main" val="2168290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IN" dirty="0"/>
              <a:t>TOOLS AND TECHNOLOGIES</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1254328" y="1456160"/>
            <a:ext cx="7818133" cy="4291044"/>
          </a:xfrm>
        </p:spPr>
        <p:txBody>
          <a:bodyPr/>
          <a:lstStyle/>
          <a:p>
            <a:r>
              <a:rPr lang="en-IN" b="1" dirty="0"/>
              <a:t>1. PostgreSQL</a:t>
            </a:r>
          </a:p>
          <a:p>
            <a:pPr marL="0" indent="0">
              <a:buNone/>
            </a:pPr>
            <a:r>
              <a:rPr lang="en-IN" dirty="0"/>
              <a:t>    PostgreSQL is used to store, manage, and </a:t>
            </a:r>
            <a:r>
              <a:rPr lang="en-IN" dirty="0" err="1"/>
              <a:t>analyze</a:t>
            </a:r>
            <a:r>
              <a:rPr lang="en-IN" dirty="0"/>
              <a:t> stock market data. SQL   </a:t>
            </a:r>
          </a:p>
          <a:p>
            <a:pPr marL="0" indent="0">
              <a:buNone/>
            </a:pPr>
            <a:r>
              <a:rPr lang="en-IN" dirty="0"/>
              <a:t>    queries help filter records, calculate summary values, and compare stock  </a:t>
            </a:r>
          </a:p>
          <a:p>
            <a:pPr marL="0" indent="0">
              <a:buNone/>
            </a:pPr>
            <a:r>
              <a:rPr lang="en-IN" dirty="0"/>
              <a:t>    information.</a:t>
            </a:r>
          </a:p>
          <a:p>
            <a:r>
              <a:rPr lang="en-IN" b="1" dirty="0"/>
              <a:t>2. </a:t>
            </a:r>
            <a:r>
              <a:rPr lang="en-IN" b="1" dirty="0" err="1"/>
              <a:t>Streamlit</a:t>
            </a:r>
            <a:endParaRPr lang="en-IN" b="1" dirty="0"/>
          </a:p>
          <a:p>
            <a:pPr marL="0" indent="0">
              <a:buNone/>
            </a:pPr>
            <a:r>
              <a:rPr lang="en-IN" dirty="0"/>
              <a:t>   </a:t>
            </a:r>
            <a:r>
              <a:rPr lang="en-IN" dirty="0" err="1"/>
              <a:t>Streamlit</a:t>
            </a:r>
            <a:r>
              <a:rPr lang="en-IN" dirty="0"/>
              <a:t> is used to build an interactive dashboard that displays company  </a:t>
            </a:r>
          </a:p>
          <a:p>
            <a:pPr marL="0" indent="0">
              <a:buNone/>
            </a:pPr>
            <a:r>
              <a:rPr lang="en-IN" dirty="0"/>
              <a:t>   summaries, key metrics, and stock closing price trends.</a:t>
            </a:r>
          </a:p>
          <a:p>
            <a:r>
              <a:rPr lang="en-IN" b="1" dirty="0"/>
              <a:t>3. CSV Files</a:t>
            </a:r>
          </a:p>
          <a:p>
            <a:pPr marL="0" indent="0">
              <a:buNone/>
            </a:pPr>
            <a:r>
              <a:rPr lang="en-IN" dirty="0"/>
              <a:t>    CSV files are the source of historical stock market data for the six selected </a:t>
            </a:r>
          </a:p>
          <a:p>
            <a:pPr marL="0" indent="0">
              <a:buNone/>
            </a:pPr>
            <a:r>
              <a:rPr lang="en-IN" dirty="0"/>
              <a:t>    companies.</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5</a:t>
            </a:fld>
            <a:endParaRPr lang="en-US" dirty="0"/>
          </a:p>
        </p:txBody>
      </p:sp>
      <p:pic>
        <p:nvPicPr>
          <p:cNvPr id="9" name="Picture 8" descr="postgres - Official Image | Docker Hub">
            <a:extLst>
              <a:ext uri="{FF2B5EF4-FFF2-40B4-BE49-F238E27FC236}">
                <a16:creationId xmlns:a16="http://schemas.microsoft.com/office/drawing/2014/main" id="{0B54F059-90AF-A409-8E17-018A3B39B883}"/>
              </a:ext>
            </a:extLst>
          </p:cNvPr>
          <p:cNvPicPr>
            <a:picLocks noChangeAspect="1"/>
          </p:cNvPicPr>
          <p:nvPr/>
        </p:nvPicPr>
        <p:blipFill>
          <a:blip r:embed="rId2"/>
          <a:stretch>
            <a:fillRect/>
          </a:stretch>
        </p:blipFill>
        <p:spPr>
          <a:xfrm>
            <a:off x="534842" y="1638394"/>
            <a:ext cx="719486" cy="705917"/>
          </a:xfrm>
          <a:prstGeom prst="rect">
            <a:avLst/>
          </a:prstGeom>
        </p:spPr>
      </p:pic>
      <p:pic>
        <p:nvPicPr>
          <p:cNvPr id="11" name="Picture 10" descr="Streamlit Logo PNG Vector (SVG) Free Download">
            <a:extLst>
              <a:ext uri="{FF2B5EF4-FFF2-40B4-BE49-F238E27FC236}">
                <a16:creationId xmlns:a16="http://schemas.microsoft.com/office/drawing/2014/main" id="{8015FC14-2397-2209-1BF6-0E784CF6C03C}"/>
              </a:ext>
            </a:extLst>
          </p:cNvPr>
          <p:cNvPicPr>
            <a:picLocks noChangeAspect="1"/>
          </p:cNvPicPr>
          <p:nvPr/>
        </p:nvPicPr>
        <p:blipFill>
          <a:blip r:embed="rId3"/>
          <a:stretch>
            <a:fillRect/>
          </a:stretch>
        </p:blipFill>
        <p:spPr>
          <a:xfrm>
            <a:off x="513073" y="3034091"/>
            <a:ext cx="719487" cy="719487"/>
          </a:xfrm>
          <a:prstGeom prst="rect">
            <a:avLst/>
          </a:prstGeom>
        </p:spPr>
      </p:pic>
      <p:pic>
        <p:nvPicPr>
          <p:cNvPr id="12" name="Picture 11" descr="CSV File Icon. Vector File Format. CSV File Extension Modern Flat Design">
            <a:extLst>
              <a:ext uri="{FF2B5EF4-FFF2-40B4-BE49-F238E27FC236}">
                <a16:creationId xmlns:a16="http://schemas.microsoft.com/office/drawing/2014/main" id="{2AC65526-227A-A4D7-1A58-559BBC66C24D}"/>
              </a:ext>
            </a:extLst>
          </p:cNvPr>
          <p:cNvPicPr>
            <a:picLocks noChangeAspect="1"/>
          </p:cNvPicPr>
          <p:nvPr/>
        </p:nvPicPr>
        <p:blipFill>
          <a:blip r:embed="rId4"/>
          <a:stretch>
            <a:fillRect/>
          </a:stretch>
        </p:blipFill>
        <p:spPr>
          <a:xfrm>
            <a:off x="493258" y="4159035"/>
            <a:ext cx="794394" cy="794394"/>
          </a:xfrm>
          <a:prstGeom prst="rect">
            <a:avLst/>
          </a:prstGeom>
        </p:spPr>
      </p:pic>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978729"/>
          </a:xfrm>
        </p:spPr>
        <p:txBody>
          <a:bodyPr/>
          <a:lstStyle/>
          <a:p>
            <a:pPr algn="ctr"/>
            <a:r>
              <a:rPr lang="en-IN" sz="2400" dirty="0"/>
              <a:t>  PROJECT METHODOLOGY</a:t>
            </a:r>
            <a:br>
              <a:rPr lang="en-IN" sz="2400" dirty="0"/>
            </a:br>
            <a:r>
              <a:rPr lang="en-IN" sz="2000" dirty="0"/>
              <a:t>Step-by-step process followed in the Stock Market Analysis project</a:t>
            </a:r>
            <a:br>
              <a:rPr lang="en-IN" sz="2000" dirty="0"/>
            </a:br>
            <a:endParaRPr lang="en-IN" sz="2000"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a:xfrm>
            <a:off x="444500" y="1604865"/>
            <a:ext cx="10920186" cy="4584798"/>
          </a:xfrm>
        </p:spPr>
        <p:txBody>
          <a:bodyPr>
            <a:normAutofit/>
          </a:bodyPr>
          <a:lstStyle/>
          <a:p>
            <a:pPr marL="0" lvl="0" indent="0">
              <a:buNone/>
            </a:pPr>
            <a:r>
              <a:rPr lang="en-IN" dirty="0"/>
              <a:t>1.  Data Collection</a:t>
            </a:r>
          </a:p>
          <a:p>
            <a:pPr marL="0" lvl="0" indent="0">
              <a:buNone/>
            </a:pPr>
            <a:r>
              <a:rPr lang="en-IN" dirty="0"/>
              <a:t>     Collected historical stock market data for six companies from CSV files.</a:t>
            </a:r>
          </a:p>
          <a:p>
            <a:pPr marL="0" lvl="0" indent="0">
              <a:buNone/>
            </a:pPr>
            <a:r>
              <a:rPr lang="en-IN" dirty="0"/>
              <a:t>2.  Data Loading</a:t>
            </a:r>
          </a:p>
          <a:p>
            <a:pPr marL="0" lvl="0" indent="0">
              <a:buNone/>
            </a:pPr>
            <a:r>
              <a:rPr lang="en-IN" dirty="0"/>
              <a:t>     Loaded the stock market data into PostgreSQL for database management and analysis.</a:t>
            </a:r>
          </a:p>
          <a:p>
            <a:pPr marL="0" lvl="0" indent="0">
              <a:buNone/>
            </a:pPr>
            <a:r>
              <a:rPr lang="en-IN" dirty="0"/>
              <a:t>3.  Data Validation</a:t>
            </a:r>
          </a:p>
          <a:p>
            <a:pPr marL="0" lvl="0" indent="0">
              <a:buNone/>
            </a:pPr>
            <a:r>
              <a:rPr lang="en-IN" dirty="0"/>
              <a:t>     Reviewed the data structure and checked data consistency before analysis.</a:t>
            </a:r>
          </a:p>
          <a:p>
            <a:pPr marL="0" lvl="0" indent="0">
              <a:buNone/>
            </a:pPr>
            <a:r>
              <a:rPr lang="en-IN" dirty="0"/>
              <a:t>4.  SQL Analysis</a:t>
            </a:r>
          </a:p>
          <a:p>
            <a:pPr marL="0" lvl="0" indent="0">
              <a:buNone/>
            </a:pPr>
            <a:r>
              <a:rPr lang="en-IN" dirty="0"/>
              <a:t>     Used PostgreSQL queries to filter, summarize, group, and </a:t>
            </a:r>
            <a:r>
              <a:rPr lang="en-IN" dirty="0" err="1"/>
              <a:t>analyze</a:t>
            </a:r>
            <a:r>
              <a:rPr lang="en-IN" dirty="0"/>
              <a:t> stock market records.</a:t>
            </a:r>
          </a:p>
          <a:p>
            <a:pPr marL="0" lvl="0" indent="0">
              <a:buNone/>
            </a:pPr>
            <a:r>
              <a:rPr lang="en-IN" dirty="0"/>
              <a:t>5.  Dashboard Development</a:t>
            </a:r>
          </a:p>
          <a:p>
            <a:pPr marL="0" lvl="0" indent="0">
              <a:buNone/>
            </a:pPr>
            <a:r>
              <a:rPr lang="en-IN" dirty="0"/>
              <a:t>     Used </a:t>
            </a:r>
            <a:r>
              <a:rPr lang="en-IN" dirty="0" err="1"/>
              <a:t>Streamlit</a:t>
            </a:r>
            <a:r>
              <a:rPr lang="en-IN" dirty="0"/>
              <a:t> to display key metrics, company summaries, and closing price trends.</a:t>
            </a:r>
          </a:p>
          <a:p>
            <a:pPr marL="0" lvl="0" indent="0">
              <a:buNone/>
            </a:pPr>
            <a:r>
              <a:rPr lang="en-IN" dirty="0"/>
              <a:t>6.  Insights and Reporting</a:t>
            </a:r>
          </a:p>
          <a:p>
            <a:pPr marL="0" lvl="0" indent="0">
              <a:buNone/>
            </a:pPr>
            <a:r>
              <a:rPr lang="en-IN" dirty="0"/>
              <a:t>     Presented the available results through visualizations and summarized the findings in the report.</a:t>
            </a:r>
          </a:p>
          <a:p>
            <a:pPr marL="342900" indent="-342900">
              <a:buFont typeface="+mj-lt"/>
              <a:buAutoNum type="arabicPeriod"/>
            </a:pPr>
            <a:endParaRPr lang="en-US" dirty="0"/>
          </a:p>
          <a:p>
            <a:endParaRPr lang="en-US" dirty="0"/>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CAD03-C43B-DD1C-9E90-9F0B2414E098}"/>
              </a:ext>
            </a:extLst>
          </p:cNvPr>
          <p:cNvSpPr>
            <a:spLocks noGrp="1"/>
          </p:cNvSpPr>
          <p:nvPr>
            <p:ph type="title"/>
          </p:nvPr>
        </p:nvSpPr>
        <p:spPr>
          <a:xfrm>
            <a:off x="533400" y="729537"/>
            <a:ext cx="11214100" cy="4081117"/>
          </a:xfrm>
        </p:spPr>
        <p:txBody>
          <a:bodyPr/>
          <a:lstStyle/>
          <a:p>
            <a:br>
              <a:rPr lang="en-IN" dirty="0"/>
            </a:br>
            <a:br>
              <a:rPr lang="en-IN" dirty="0"/>
            </a:br>
            <a:br>
              <a:rPr lang="en-IN" dirty="0"/>
            </a:br>
            <a:br>
              <a:rPr lang="en-IN" dirty="0"/>
            </a:br>
            <a:br>
              <a:rPr lang="en-IN" dirty="0"/>
            </a:br>
            <a:br>
              <a:rPr lang="en-IN" dirty="0"/>
            </a:br>
            <a:br>
              <a:rPr lang="en-IN" dirty="0"/>
            </a:br>
            <a:br>
              <a:rPr lang="en-IN" dirty="0"/>
            </a:br>
            <a:endParaRPr lang="en-IN" dirty="0"/>
          </a:p>
        </p:txBody>
      </p:sp>
      <p:sp>
        <p:nvSpPr>
          <p:cNvPr id="3" name="Slide Number Placeholder 2">
            <a:extLst>
              <a:ext uri="{FF2B5EF4-FFF2-40B4-BE49-F238E27FC236}">
                <a16:creationId xmlns:a16="http://schemas.microsoft.com/office/drawing/2014/main" id="{3F9F8F17-B114-CF09-BCB3-0BB6D5EC2643}"/>
              </a:ext>
            </a:extLst>
          </p:cNvPr>
          <p:cNvSpPr>
            <a:spLocks noGrp="1"/>
          </p:cNvSpPr>
          <p:nvPr>
            <p:ph type="sldNum" sz="quarter" idx="12"/>
          </p:nvPr>
        </p:nvSpPr>
        <p:spPr/>
        <p:txBody>
          <a:bodyPr/>
          <a:lstStyle/>
          <a:p>
            <a:fld id="{C263D6C4-4840-40CC-AC84-17E24B3B7BDE}" type="slidenum">
              <a:rPr lang="en-US" noProof="0" smtClean="0"/>
              <a:pPr/>
              <a:t>7</a:t>
            </a:fld>
            <a:endParaRPr lang="en-US" noProof="0" dirty="0"/>
          </a:p>
        </p:txBody>
      </p:sp>
      <p:sp>
        <p:nvSpPr>
          <p:cNvPr id="4" name="Rectangle: Rounded Corners 3">
            <a:extLst>
              <a:ext uri="{FF2B5EF4-FFF2-40B4-BE49-F238E27FC236}">
                <a16:creationId xmlns:a16="http://schemas.microsoft.com/office/drawing/2014/main" id="{709DDBE3-455D-5958-F8D4-AB9FF747F8D3}"/>
              </a:ext>
            </a:extLst>
          </p:cNvPr>
          <p:cNvSpPr/>
          <p:nvPr/>
        </p:nvSpPr>
        <p:spPr>
          <a:xfrm>
            <a:off x="3312367" y="149290"/>
            <a:ext cx="5570376" cy="9703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a:ln w="6600">
                  <a:solidFill>
                    <a:schemeClr val="accent2"/>
                  </a:solidFill>
                  <a:prstDash val="solid"/>
                </a:ln>
                <a:solidFill>
                  <a:srgbClr val="FFFFFF"/>
                </a:solidFill>
                <a:effectLst>
                  <a:outerShdw dist="38100" dir="2700000" algn="tl" rotWithShape="0">
                    <a:schemeClr val="accent2"/>
                  </a:outerShdw>
                </a:effectLst>
              </a:rPr>
              <a:t>DASHBOARD OVERVIEW</a:t>
            </a:r>
          </a:p>
        </p:txBody>
      </p:sp>
      <p:sp>
        <p:nvSpPr>
          <p:cNvPr id="5" name="Rectangle: Rounded Corners 4">
            <a:extLst>
              <a:ext uri="{FF2B5EF4-FFF2-40B4-BE49-F238E27FC236}">
                <a16:creationId xmlns:a16="http://schemas.microsoft.com/office/drawing/2014/main" id="{015AFA29-22B7-ABB7-D68A-D01CB6095A2C}"/>
              </a:ext>
            </a:extLst>
          </p:cNvPr>
          <p:cNvSpPr/>
          <p:nvPr/>
        </p:nvSpPr>
        <p:spPr>
          <a:xfrm>
            <a:off x="868265" y="1287623"/>
            <a:ext cx="10543592" cy="5971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t>An interactive dashboard for exploring historical stock market data</a:t>
            </a:r>
          </a:p>
        </p:txBody>
      </p:sp>
      <p:sp>
        <p:nvSpPr>
          <p:cNvPr id="6" name="Oval 5">
            <a:extLst>
              <a:ext uri="{FF2B5EF4-FFF2-40B4-BE49-F238E27FC236}">
                <a16:creationId xmlns:a16="http://schemas.microsoft.com/office/drawing/2014/main" id="{6FFAF3DB-1C2B-468F-E97A-27B8D5AFD05A}"/>
              </a:ext>
            </a:extLst>
          </p:cNvPr>
          <p:cNvSpPr/>
          <p:nvPr/>
        </p:nvSpPr>
        <p:spPr>
          <a:xfrm>
            <a:off x="2127380" y="1957457"/>
            <a:ext cx="3284376" cy="139026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6</a:t>
            </a:r>
            <a:br>
              <a:rPr lang="en-IN" dirty="0"/>
            </a:br>
            <a:r>
              <a:rPr lang="en-IN" dirty="0"/>
              <a:t>Companies Loaded</a:t>
            </a:r>
          </a:p>
        </p:txBody>
      </p:sp>
      <p:sp>
        <p:nvSpPr>
          <p:cNvPr id="7" name="Oval 6">
            <a:extLst>
              <a:ext uri="{FF2B5EF4-FFF2-40B4-BE49-F238E27FC236}">
                <a16:creationId xmlns:a16="http://schemas.microsoft.com/office/drawing/2014/main" id="{FA197423-D20A-F189-2B68-108AB9FD2CFC}"/>
              </a:ext>
            </a:extLst>
          </p:cNvPr>
          <p:cNvSpPr/>
          <p:nvPr/>
        </p:nvSpPr>
        <p:spPr>
          <a:xfrm>
            <a:off x="6243735" y="1957457"/>
            <a:ext cx="3405024" cy="15675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5,334</a:t>
            </a:r>
            <a:br>
              <a:rPr lang="en-IN" dirty="0"/>
            </a:br>
            <a:r>
              <a:rPr lang="en-IN" dirty="0"/>
              <a:t>Total Records</a:t>
            </a:r>
          </a:p>
        </p:txBody>
      </p:sp>
      <p:sp>
        <p:nvSpPr>
          <p:cNvPr id="8" name="Rectangle: Rounded Corners 7">
            <a:extLst>
              <a:ext uri="{FF2B5EF4-FFF2-40B4-BE49-F238E27FC236}">
                <a16:creationId xmlns:a16="http://schemas.microsoft.com/office/drawing/2014/main" id="{295427DE-3254-66AF-89AE-707CD74718D0}"/>
              </a:ext>
            </a:extLst>
          </p:cNvPr>
          <p:cNvSpPr/>
          <p:nvPr/>
        </p:nvSpPr>
        <p:spPr>
          <a:xfrm>
            <a:off x="1091682" y="3617320"/>
            <a:ext cx="9713167" cy="110101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t>6,273.19</a:t>
            </a:r>
            <a:br>
              <a:rPr lang="en-IN" sz="2000" dirty="0"/>
            </a:br>
            <a:r>
              <a:rPr lang="en-IN" sz="2000" dirty="0"/>
              <a:t>Average Latest Close — as displayed by the app</a:t>
            </a:r>
            <a:br>
              <a:rPr lang="en-IN" sz="2000" dirty="0"/>
            </a:br>
            <a:endParaRPr lang="en-IN" sz="2000" dirty="0"/>
          </a:p>
        </p:txBody>
      </p:sp>
      <p:sp>
        <p:nvSpPr>
          <p:cNvPr id="9" name="Rectangle: Rounded Corners 8">
            <a:extLst>
              <a:ext uri="{FF2B5EF4-FFF2-40B4-BE49-F238E27FC236}">
                <a16:creationId xmlns:a16="http://schemas.microsoft.com/office/drawing/2014/main" id="{B0821F85-FB2F-0BA6-C6F7-451DCF9E1B1F}"/>
              </a:ext>
            </a:extLst>
          </p:cNvPr>
          <p:cNvSpPr/>
          <p:nvPr/>
        </p:nvSpPr>
        <p:spPr>
          <a:xfrm>
            <a:off x="1026367" y="4926563"/>
            <a:ext cx="9909111" cy="13885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t>Main Dashboard Features</a:t>
            </a:r>
          </a:p>
          <a:p>
            <a:pPr marL="285750" lvl="0" indent="-285750">
              <a:buFont typeface="Wingdings" panose="05000000000000000000" pitchFamily="2" charset="2"/>
              <a:buChar char="§"/>
            </a:pPr>
            <a:r>
              <a:rPr lang="en-IN" dirty="0"/>
              <a:t>Company Summary: Provides an overview of the available company data.</a:t>
            </a:r>
          </a:p>
          <a:p>
            <a:pPr marL="285750" lvl="0" indent="-285750">
              <a:buFont typeface="Wingdings" panose="05000000000000000000" pitchFamily="2" charset="2"/>
              <a:buChar char="§"/>
            </a:pPr>
            <a:r>
              <a:rPr lang="en-IN" dirty="0"/>
              <a:t>Key Metrics: Displays important summary values.</a:t>
            </a:r>
          </a:p>
          <a:p>
            <a:pPr marL="285750" lvl="0" indent="-285750">
              <a:buFont typeface="Wingdings" panose="05000000000000000000" pitchFamily="2" charset="2"/>
              <a:buChar char="§"/>
            </a:pPr>
            <a:r>
              <a:rPr lang="en-IN" dirty="0"/>
              <a:t>Closing Price Trends: Visualizes stock closing prices over time.</a:t>
            </a:r>
          </a:p>
          <a:p>
            <a:pPr marL="285750" lvl="0" indent="-285750">
              <a:buFont typeface="Wingdings" panose="05000000000000000000" pitchFamily="2" charset="2"/>
              <a:buChar char="§"/>
            </a:pPr>
            <a:r>
              <a:rPr lang="en-IN" dirty="0"/>
              <a:t>Data Exploration: Helps users understand historical stock information.</a:t>
            </a:r>
          </a:p>
        </p:txBody>
      </p:sp>
    </p:spTree>
    <p:extLst>
      <p:ext uri="{BB962C8B-B14F-4D97-AF65-F5344CB8AC3E}">
        <p14:creationId xmlns:p14="http://schemas.microsoft.com/office/powerpoint/2010/main" val="1598825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a:xfrm>
            <a:off x="444500" y="542925"/>
            <a:ext cx="11214100" cy="923330"/>
          </a:xfrm>
        </p:spPr>
        <p:style>
          <a:lnRef idx="1">
            <a:schemeClr val="accent1"/>
          </a:lnRef>
          <a:fillRef idx="2">
            <a:schemeClr val="accent1"/>
          </a:fillRef>
          <a:effectRef idx="1">
            <a:schemeClr val="accent1"/>
          </a:effectRef>
          <a:fontRef idx="minor">
            <a:schemeClr val="dk1"/>
          </a:fontRef>
        </p:style>
        <p:txBody>
          <a:bodyPr/>
          <a:lstStyle/>
          <a:p>
            <a:pPr algn="ctr"/>
            <a:r>
              <a:rPr lang="en-IN" sz="3600" dirty="0">
                <a:highlight>
                  <a:srgbClr val="0C75AC"/>
                </a:highlight>
              </a:rPr>
              <a:t>KEY INSIGHTS</a:t>
            </a:r>
            <a:br>
              <a:rPr lang="en-IN" dirty="0">
                <a:highlight>
                  <a:srgbClr val="0C75AC"/>
                </a:highlight>
              </a:rPr>
            </a:br>
            <a:r>
              <a:rPr lang="en-IN" sz="2400" dirty="0">
                <a:highlight>
                  <a:srgbClr val="0C75AC"/>
                </a:highlight>
              </a:rPr>
              <a:t>Understanding historical stock market performance through data analysis</a:t>
            </a:r>
          </a:p>
        </p:txBody>
      </p:sp>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
        <p:nvSpPr>
          <p:cNvPr id="4" name="Rectangle 3">
            <a:extLst>
              <a:ext uri="{FF2B5EF4-FFF2-40B4-BE49-F238E27FC236}">
                <a16:creationId xmlns:a16="http://schemas.microsoft.com/office/drawing/2014/main" id="{7A88DCB0-1DB6-4968-7494-B4C4D98DE031}"/>
              </a:ext>
            </a:extLst>
          </p:cNvPr>
          <p:cNvSpPr/>
          <p:nvPr/>
        </p:nvSpPr>
        <p:spPr>
          <a:xfrm>
            <a:off x="774441" y="2006082"/>
            <a:ext cx="10310326" cy="43089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a:t>1. Closing Price Trends</a:t>
            </a:r>
          </a:p>
          <a:p>
            <a:r>
              <a:rPr lang="en-IN"/>
              <a:t>The closing price chart helps users observe how stock prices change over the available historical period.</a:t>
            </a:r>
          </a:p>
          <a:p>
            <a:r>
              <a:rPr lang="en-IN"/>
              <a:t>2. Company Comparison</a:t>
            </a:r>
          </a:p>
          <a:p>
            <a:r>
              <a:rPr lang="en-IN"/>
              <a:t>The dashboard allows users to explore stock price information for six companies: Bajaj Auto, Eicher Motors, Hero MotoCorp, Infosys, TCS, and TVS Motors.</a:t>
            </a:r>
          </a:p>
          <a:p>
            <a:r>
              <a:rPr lang="en-IN"/>
              <a:t>3. Historical Performance</a:t>
            </a:r>
          </a:p>
          <a:p>
            <a:r>
              <a:rPr lang="en-IN"/>
              <a:t>Historical records help users understand price movements across different dates.</a:t>
            </a:r>
          </a:p>
          <a:p>
            <a:r>
              <a:rPr lang="en-IN"/>
              <a:t>4. Trading Activity</a:t>
            </a:r>
          </a:p>
          <a:p>
            <a:r>
              <a:rPr lang="en-IN"/>
              <a:t>Dataset fields such as number of shares, number of trades, and total turnover can help examine trading activity.</a:t>
            </a:r>
          </a:p>
          <a:p>
            <a:r>
              <a:rPr lang="en-IN"/>
              <a:t>5. Data-Driven Analysis</a:t>
            </a:r>
          </a:p>
          <a:p>
            <a:r>
              <a:rPr lang="en-IN"/>
              <a:t>PostgreSQL queries and Streamlit visualizations help organize stock data and present the results clearly.</a:t>
            </a:r>
          </a:p>
        </p:txBody>
      </p:sp>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C514D-76EB-681A-8ABE-7A06F6655842}"/>
              </a:ext>
            </a:extLst>
          </p:cNvPr>
          <p:cNvSpPr>
            <a:spLocks noGrp="1"/>
          </p:cNvSpPr>
          <p:nvPr>
            <p:ph type="title"/>
          </p:nvPr>
        </p:nvSpPr>
        <p:spPr>
          <a:xfrm>
            <a:off x="444500" y="802434"/>
            <a:ext cx="11214100" cy="1483566"/>
          </a:xfrm>
        </p:spPr>
        <p:txBody>
          <a:bodyPr/>
          <a:lstStyle/>
          <a:p>
            <a:r>
              <a:rPr lang="en-IN" dirty="0"/>
              <a:t>                             </a:t>
            </a:r>
            <a:r>
              <a:rPr lang="en-IN" dirty="0">
                <a:highlight>
                  <a:srgbClr val="0C75AC"/>
                </a:highlight>
              </a:rPr>
              <a:t>RECOMMENDATIONS</a:t>
            </a:r>
            <a:br>
              <a:rPr lang="en-IN" dirty="0"/>
            </a:br>
            <a:br>
              <a:rPr lang="en-IN" dirty="0"/>
            </a:br>
            <a:r>
              <a:rPr lang="en-IN" sz="2400" dirty="0">
                <a:highlight>
                  <a:srgbClr val="0C75AC"/>
                </a:highlight>
              </a:rPr>
              <a:t>Suggestions for improving stock market data analysis and dashboard usability</a:t>
            </a:r>
            <a:br>
              <a:rPr lang="en-IN" sz="2400" dirty="0">
                <a:highlight>
                  <a:srgbClr val="0C75AC"/>
                </a:highlight>
              </a:rPr>
            </a:br>
            <a:endParaRPr lang="en-IN" sz="2400" dirty="0">
              <a:highlight>
                <a:srgbClr val="0C75AC"/>
              </a:highlight>
            </a:endParaRPr>
          </a:p>
        </p:txBody>
      </p:sp>
      <p:sp>
        <p:nvSpPr>
          <p:cNvPr id="3" name="Slide Number Placeholder 2">
            <a:extLst>
              <a:ext uri="{FF2B5EF4-FFF2-40B4-BE49-F238E27FC236}">
                <a16:creationId xmlns:a16="http://schemas.microsoft.com/office/drawing/2014/main" id="{835BCDFD-A253-E418-4F75-61AB40D1C2EC}"/>
              </a:ext>
            </a:extLst>
          </p:cNvPr>
          <p:cNvSpPr>
            <a:spLocks noGrp="1"/>
          </p:cNvSpPr>
          <p:nvPr>
            <p:ph type="sldNum" sz="quarter" idx="12"/>
          </p:nvPr>
        </p:nvSpPr>
        <p:spPr/>
        <p:txBody>
          <a:bodyPr/>
          <a:lstStyle/>
          <a:p>
            <a:fld id="{C263D6C4-4840-40CC-AC84-17E24B3B7BDE}" type="slidenum">
              <a:rPr lang="en-US" noProof="0" smtClean="0"/>
              <a:pPr/>
              <a:t>9</a:t>
            </a:fld>
            <a:endParaRPr lang="en-US" noProof="0" dirty="0"/>
          </a:p>
        </p:txBody>
      </p:sp>
      <p:sp>
        <p:nvSpPr>
          <p:cNvPr id="4" name="Rectangle: Rounded Corners 3">
            <a:extLst>
              <a:ext uri="{FF2B5EF4-FFF2-40B4-BE49-F238E27FC236}">
                <a16:creationId xmlns:a16="http://schemas.microsoft.com/office/drawing/2014/main" id="{F84CD175-8A74-3EDD-27C5-49B1B10C4782}"/>
              </a:ext>
            </a:extLst>
          </p:cNvPr>
          <p:cNvSpPr/>
          <p:nvPr/>
        </p:nvSpPr>
        <p:spPr>
          <a:xfrm>
            <a:off x="533400" y="2397967"/>
            <a:ext cx="11214100" cy="41334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dirty="0"/>
              <a:t>1.  Maintain Data Quality</a:t>
            </a:r>
          </a:p>
          <a:p>
            <a:r>
              <a:rPr lang="en-IN" dirty="0"/>
              <a:t>     Check for missing values, duplicate records, incorrect dates, and inconsistent data before analysis.</a:t>
            </a:r>
          </a:p>
          <a:p>
            <a:r>
              <a:rPr lang="en-IN" dirty="0"/>
              <a:t>2.  Improve Company Comparison</a:t>
            </a:r>
          </a:p>
          <a:p>
            <a:r>
              <a:rPr lang="en-IN" dirty="0"/>
              <a:t>     Compare stock price movements over the same date range to make the results more meaningful.</a:t>
            </a:r>
          </a:p>
          <a:p>
            <a:r>
              <a:rPr lang="en-IN" dirty="0"/>
              <a:t>3.  Enhance Dashboard Interactivity</a:t>
            </a:r>
          </a:p>
          <a:p>
            <a:r>
              <a:rPr lang="en-IN" dirty="0"/>
              <a:t>     Add company and date filters so users can explore specific stocks and periods, if these features are    </a:t>
            </a:r>
            <a:br>
              <a:rPr lang="en-IN" dirty="0"/>
            </a:br>
            <a:r>
              <a:rPr lang="en-IN" dirty="0"/>
              <a:t>     not already available.</a:t>
            </a:r>
          </a:p>
          <a:p>
            <a:r>
              <a:rPr lang="en-IN" dirty="0"/>
              <a:t>4.  Present Clear Insights</a:t>
            </a:r>
          </a:p>
          <a:p>
            <a:r>
              <a:rPr lang="en-IN" dirty="0"/>
              <a:t>     Display readable charts, key metrics, and short explanations of important findings.</a:t>
            </a:r>
          </a:p>
          <a:p>
            <a:r>
              <a:rPr lang="en-IN" dirty="0"/>
              <a:t>5.  Update Historical Data</a:t>
            </a:r>
          </a:p>
          <a:p>
            <a:r>
              <a:rPr lang="en-IN" dirty="0"/>
              <a:t>     Refresh the datasets when new records are available, if regular data updates are within the project    </a:t>
            </a:r>
          </a:p>
          <a:p>
            <a:r>
              <a:rPr lang="en-IN" dirty="0"/>
              <a:t>     scope.</a:t>
            </a:r>
          </a:p>
        </p:txBody>
      </p:sp>
    </p:spTree>
    <p:extLst>
      <p:ext uri="{BB962C8B-B14F-4D97-AF65-F5344CB8AC3E}">
        <p14:creationId xmlns:p14="http://schemas.microsoft.com/office/powerpoint/2010/main" val="1586774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1875453" y="578498"/>
            <a:ext cx="8287387" cy="4544008"/>
          </a:xfrm>
        </p:spPr>
        <p:txBody>
          <a:bodyPr/>
          <a:lstStyle/>
          <a:p>
            <a:pPr algn="ctr"/>
            <a:r>
              <a:rPr lang="en-IN" sz="3200" dirty="0"/>
              <a:t>   </a:t>
            </a:r>
            <a:br>
              <a:rPr lang="en-IN" sz="3200" dirty="0"/>
            </a:br>
            <a:br>
              <a:rPr lang="en-IN" sz="3200" dirty="0"/>
            </a:br>
            <a:r>
              <a:rPr lang="en-IN" sz="1600" dirty="0"/>
              <a:t>This project demonstrates how historical stock market data from six companies can be organized and </a:t>
            </a:r>
            <a:r>
              <a:rPr lang="en-IN" sz="1600" dirty="0" err="1"/>
              <a:t>analyzed</a:t>
            </a:r>
            <a:r>
              <a:rPr lang="en-IN" sz="1600" dirty="0"/>
              <a:t> using PostgreSQL and presented through an interactive </a:t>
            </a:r>
            <a:br>
              <a:rPr lang="en-IN" sz="1600" dirty="0"/>
            </a:br>
            <a:r>
              <a:rPr lang="en-IN" sz="1600" dirty="0"/>
              <a:t> </a:t>
            </a:r>
            <a:br>
              <a:rPr lang="en-IN" sz="1600" dirty="0"/>
            </a:br>
            <a:br>
              <a:rPr lang="en-IN" sz="2800" dirty="0"/>
            </a:br>
            <a:br>
              <a:rPr lang="en-IN" sz="2800" dirty="0"/>
            </a:br>
            <a:r>
              <a:rPr lang="en-IN" sz="1600" dirty="0"/>
              <a:t>The dashboard visualizes closing price trends and summarizes company-level information, helping users explore and compare historical stock market data.</a:t>
            </a:r>
            <a:br>
              <a:rPr lang="en-IN" sz="1600" dirty="0"/>
            </a:br>
            <a:br>
              <a:rPr lang="en-IN" sz="1600" dirty="0"/>
            </a:br>
            <a:r>
              <a:rPr lang="en-IN" sz="1600" dirty="0"/>
              <a:t>This project provided practical experience in SQL-based data analysis, database management, and dashboard development.</a:t>
            </a:r>
            <a:br>
              <a:rPr lang="en-IN" sz="1600" dirty="0"/>
            </a:br>
            <a:br>
              <a:rPr lang="en-IN" sz="1600" dirty="0"/>
            </a:br>
            <a:endParaRPr lang="en-GB" sz="1600" dirty="0"/>
          </a:p>
        </p:txBody>
      </p:sp>
      <p:sp>
        <p:nvSpPr>
          <p:cNvPr id="3" name="Rectangle 2">
            <a:extLst>
              <a:ext uri="{FF2B5EF4-FFF2-40B4-BE49-F238E27FC236}">
                <a16:creationId xmlns:a16="http://schemas.microsoft.com/office/drawing/2014/main" id="{27C71CE0-1159-F07A-9FC1-221EF4288F2D}"/>
              </a:ext>
            </a:extLst>
          </p:cNvPr>
          <p:cNvSpPr/>
          <p:nvPr/>
        </p:nvSpPr>
        <p:spPr>
          <a:xfrm>
            <a:off x="4795934" y="830424"/>
            <a:ext cx="2761861" cy="6158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a:t>CONCLUSION</a:t>
            </a:r>
          </a:p>
        </p:txBody>
      </p:sp>
      <p:sp>
        <p:nvSpPr>
          <p:cNvPr id="4" name="Rectangle 3">
            <a:extLst>
              <a:ext uri="{FF2B5EF4-FFF2-40B4-BE49-F238E27FC236}">
                <a16:creationId xmlns:a16="http://schemas.microsoft.com/office/drawing/2014/main" id="{BA45180E-89FB-14E3-CCE5-901156D6849C}"/>
              </a:ext>
            </a:extLst>
          </p:cNvPr>
          <p:cNvSpPr/>
          <p:nvPr/>
        </p:nvSpPr>
        <p:spPr>
          <a:xfrm>
            <a:off x="4702627" y="2295331"/>
            <a:ext cx="3601617" cy="7184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dirty="0" err="1"/>
              <a:t>Streamlit</a:t>
            </a:r>
            <a:r>
              <a:rPr lang="en-IN" sz="2800" dirty="0"/>
              <a:t> dashboard</a:t>
            </a:r>
          </a:p>
        </p:txBody>
      </p:sp>
    </p:spTree>
    <p:extLst>
      <p:ext uri="{BB962C8B-B14F-4D97-AF65-F5344CB8AC3E}">
        <p14:creationId xmlns:p14="http://schemas.microsoft.com/office/powerpoint/2010/main" val="42977186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8839E-117A-CFC9-9B1A-AA41EAFA514A}"/>
              </a:ext>
            </a:extLst>
          </p:cNvPr>
          <p:cNvSpPr>
            <a:spLocks noGrp="1"/>
          </p:cNvSpPr>
          <p:nvPr>
            <p:ph type="ctrTitle"/>
          </p:nvPr>
        </p:nvSpPr>
        <p:spPr>
          <a:xfrm>
            <a:off x="1847461" y="1510252"/>
            <a:ext cx="8994710" cy="3854849"/>
          </a:xfrm>
        </p:spPr>
        <p:txBody>
          <a:bodyPr/>
          <a:lstStyle/>
          <a:p>
            <a:pPr algn="ctr"/>
            <a:br>
              <a:rPr lang="en-IN" dirty="0"/>
            </a:br>
            <a:r>
              <a:rPr lang="en-IN" dirty="0"/>
              <a:t>THANK YOU!</a:t>
            </a:r>
            <a:br>
              <a:rPr lang="en-IN" dirty="0"/>
            </a:br>
            <a:br>
              <a:rPr lang="en-IN" dirty="0"/>
            </a:br>
            <a:endParaRPr lang="en-IN" dirty="0"/>
          </a:p>
        </p:txBody>
      </p:sp>
    </p:spTree>
    <p:extLst>
      <p:ext uri="{BB962C8B-B14F-4D97-AF65-F5344CB8AC3E}">
        <p14:creationId xmlns:p14="http://schemas.microsoft.com/office/powerpoint/2010/main" val="266785228"/>
      </p:ext>
    </p:extLst>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84</TotalTime>
  <Words>992</Words>
  <Application>Microsoft Office PowerPoint</Application>
  <PresentationFormat>Widescreen</PresentationFormat>
  <Paragraphs>132</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Trade Gothic LT Pro</vt:lpstr>
      <vt:lpstr>Trebuchet MS</vt:lpstr>
      <vt:lpstr>Wingdings</vt:lpstr>
      <vt:lpstr>Office Theme</vt:lpstr>
      <vt:lpstr>STOCK MARKET ANALYSIS</vt:lpstr>
      <vt:lpstr> </vt:lpstr>
      <vt:lpstr>PROJECT OBJECTIVES</vt:lpstr>
      <vt:lpstr>DATASET OVERVIEW</vt:lpstr>
      <vt:lpstr>TOOLS AND TECHNOLOGIES</vt:lpstr>
      <vt:lpstr>  PROJECT METHODOLOGY Step-by-step process followed in the Stock Market Analysis project </vt:lpstr>
      <vt:lpstr>        </vt:lpstr>
      <vt:lpstr>KEY INSIGHTS Understanding historical stock market performance through data analysis</vt:lpstr>
      <vt:lpstr>                             RECOMMENDATIONS  Suggestions for improving stock market data analysis and dashboard usability </vt:lpstr>
      <vt:lpstr>     This project demonstrates how historical stock market data from six companies can be organized and analyzed using PostgreSQL and presented through an interactive      The dashboard visualizes closing price trends and summarizes company-level information, helping users explore and compare historical stock market data.  This project provided practical experience in SQL-based data analysis, database management, and dashboard development.  </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balaramreddy24@outlook.com</dc:creator>
  <cp:lastModifiedBy>balaramreddy24@outlook.com</cp:lastModifiedBy>
  <cp:revision>6</cp:revision>
  <dcterms:created xsi:type="dcterms:W3CDTF">2026-10-09T11:21:21Z</dcterms:created>
  <dcterms:modified xsi:type="dcterms:W3CDTF">2026-10-09T12:49:17Z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